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4389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Transition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97480" y="502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22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22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22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UX STRATEGY  •  ENTERPRISE WEBSITE REVAMP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 Website Revamp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UX Strategy &amp; Transformation Blueprint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280160" cy="4572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5720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 LTS from a software product catalog into a high-trust enterprise Lean Transformation brand.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for: </a:t>
            </a:r>
            <a:pPr indent="0" marL="0">
              <a:buNone/>
            </a:pPr>
            <a:r>
              <a:rPr lang="en-US" sz="11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Transition Solutions Ltd.</a:t>
            </a:r>
            <a:pPr indent="0" marL="0">
              <a:buNone/>
            </a:pPr>
            <a:r>
              <a:rPr lang="en-US" sz="1100" dirty="0">
                <a:solidFill>
                  <a:srgbClr val="9AA5B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pPr indent="0" marL="0">
              <a:buNone/>
            </a:pPr>
            <a:r>
              <a:rPr lang="en-US" sz="11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| 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5544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9AA5B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are not the main story.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Transformation is.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166360" y="4480560"/>
            <a:ext cx="1828800" cy="54864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website's job is to tell the transformation story. The products support that story.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experience vs. target experience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brand, two completely different stories.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5486400" cy="352044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B2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154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software catalog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37947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20+ product links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Cluttered navigation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Weak storytelling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system visualization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Feels like a SaaS marketplace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697480"/>
            <a:ext cx="5486400" cy="35204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154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transformation partner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29400" y="37947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methodology visible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ecosystem story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Trust-driven hero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consultation focus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Feels like a McKinsey-style platform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02  •  REPOSITIONING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strategic shift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Reframe the website's purpose. Products are evidence of capability — not the headline.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5212080" cy="320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26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DB2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Catalog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"I'm shopping tools."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Visitors see software. They click around 20 product tiles. They never learn what LTS does.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4069080"/>
            <a:ext cx="502920" cy="502920"/>
          </a:xfrm>
          <a:prstGeom prst="ellipse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400800" y="2743200"/>
            <a:ext cx="5212080" cy="32004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926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8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3832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Transformation Platform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00800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"These people can transform my operations."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Visitors see methodology, ecosystem, and proof. They book a consultation.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20116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PRINCIPLE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10332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i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philosophy is the </a:t>
            </a:r>
            <a:pPr algn="ctr" indent="0" marL="0">
              <a:lnSpc>
                <a:spcPct val="110000"/>
              </a:lnSpc>
              <a:buNone/>
            </a:pPr>
            <a:r>
              <a:rPr lang="en-US" sz="5400" b="1" i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spine</a:t>
            </a:r>
            <a:pPr algn="ctr" indent="0" marL="0">
              <a:lnSpc>
                <a:spcPct val="110000"/>
              </a:lnSpc>
              <a:buNone/>
            </a:pPr>
            <a:r>
              <a:rPr lang="en-US" sz="5400" b="1" i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</a:t>
            </a:r>
            <a:pPr algn="ctr" indent="0" marL="0">
              <a:lnSpc>
                <a:spcPct val="110000"/>
              </a:lnSpc>
              <a:buNone/>
            </a:pP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i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are 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i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organs</a:t>
            </a:r>
            <a:pPr algn="ctr" indent="0" marL="0">
              <a:lnSpc>
                <a:spcPct val="110000"/>
              </a:lnSpc>
              <a:buNone/>
            </a:pPr>
            <a:r>
              <a:rPr lang="en-US" sz="5400" b="1" i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5166360" y="4937760"/>
            <a:ext cx="1828800" cy="4572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51206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Methodology is the operating system. Products are the implementations. Consulting is the human layer that makes them all work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01  •  WEBSITE AUDIT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Five categories of friction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What's wrong with the current leantransitionsolutions.com — at a glance.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212848" cy="54864"/>
          </a:xfrm>
          <a:prstGeom prst="rect">
            <a:avLst/>
          </a:prstGeom>
          <a:solidFill>
            <a:srgbClr val="DB2130"/>
          </a:solidFill>
          <a:ln w="12700">
            <a:solidFill>
              <a:srgbClr val="DB21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98064"/>
            <a:ext cx="22128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B2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5800" y="3520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POSITIONING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822192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Reads as a SaaS catalog. Lean story is implied, never asserted.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88920" y="2743200"/>
            <a:ext cx="2212848" cy="54864"/>
          </a:xfrm>
          <a:prstGeom prst="rect">
            <a:avLst/>
          </a:prstGeom>
          <a:solidFill>
            <a:srgbClr val="FF7824"/>
          </a:solidFill>
          <a:ln w="12700">
            <a:solidFill>
              <a:srgbClr val="FF78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2798064"/>
            <a:ext cx="22128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017520" y="3520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INFORMATION ARCHITECTURE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822192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20+ leaf links. No clear buyer journey or hierarchy.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2743200"/>
            <a:ext cx="2212848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798064"/>
            <a:ext cx="22128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349240" y="3520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VS COMPANY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3822192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Subdomains vs. internal pages. Services dressed as products.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52360" y="2743200"/>
            <a:ext cx="2212848" cy="54864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52360" y="2798064"/>
            <a:ext cx="22128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680960" y="3520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UX FRICTION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3822192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Duplicate CTAs, dense testimonials, cookie overlays.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784080" y="2743200"/>
            <a:ext cx="2212848" cy="54864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2798064"/>
            <a:ext cx="221284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268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10012680" y="352044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STORYTELLING GAPS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12680" y="3822192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methodology visuals, no maturity model, no quantified outcomes.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33 specific UX issues documented across 5 categories.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 •  DEEP DIVE 1 /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&amp; information architecture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two issues the buyer hits first.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00" cy="54864"/>
          </a:xfrm>
          <a:prstGeom prst="rect">
            <a:avLst/>
          </a:prstGeom>
          <a:solidFill>
            <a:srgbClr val="DB2130"/>
          </a:solidFill>
          <a:ln w="12700">
            <a:solidFill>
              <a:srgbClr val="DB21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B213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  ·  BRAND POSITIONING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4612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SaaS-catalog reading.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Hero claims 'Lean Industry 4.0 revolution', then shows 20 product tiles.
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methodology is invisible.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SQDCM, PQVC, maturity model, or operating-system narrative.
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 signals buried.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BSI, ILM, named clients sit in the footer instead of the hero.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743200"/>
            <a:ext cx="5486400" cy="54864"/>
          </a:xfrm>
          <a:prstGeom prst="rect">
            <a:avLst/>
          </a:prstGeom>
          <a:solidFill>
            <a:srgbClr val="FF7824"/>
          </a:solidFill>
          <a:ln w="12700">
            <a:solidFill>
              <a:srgbClr val="FF78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  ·  INFORMATION ARCHITECTURE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324612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20+ links in the navbar.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Mega-flyout overload on first visit.
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primary categories.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'Industries', 'Lean Transformation', 'Services', or 'Insights'.
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 is hidden.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Buried in a 'Company' dropdown — should be a primary entry.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Visitors think "I'm at a software vendor" — and bounce.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 •  DEEP DIVE 2 /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confusion &amp; UX friction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the buyer's path breaks — and where attention bleeds.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5486400" cy="329184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0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  ·  PRODUCT vs COMPANY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24612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Inconsistent product depth.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 products on subdomains, others on internal pages.
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 dressed as products.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Belt, Black Belt, Workshops live next to software.
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flagship.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Flat 20-tile grid — no system architecture.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5486400" cy="329184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743200"/>
            <a:ext cx="5486400" cy="54864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  ·  UX FRICTION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324612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Duplicate CTAs.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'Get in Touch' buttons going to the same page.
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Testimonial walls.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80–150 word paragraphs with no scan-able outcome.
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Repeat surfaces.
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Footer duplicates a third of the navbar. Cookie banner blocks content.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 •  DEEP DIVE 3 /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Storytelling &amp; differentiation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an enterprise buyer expects to see — and never finds.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703320" cy="27432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80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frameworks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434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system diagram, maturity ladder, or framework anywhere on the site.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51960" y="2743200"/>
            <a:ext cx="3703320" cy="27432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880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452628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 testimonial walls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26280" y="434340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434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80–150 words, no scan-able outcome metric, no proof.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2743200"/>
            <a:ext cx="3703320" cy="27432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80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20+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832104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competing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21040" y="434340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434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Flat grid, no flagship, no thematic grouping, no system view.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Enterprise buyers expect diagrams, methodologies, ROI proof — they're missing.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03  •  GOALS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goals for the redesign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the new site has to do — clearly, in priority order.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788920" cy="310896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310896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trust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60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Certifications, named clients, authority — in the hero, not the footer.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2743200"/>
            <a:ext cx="2788920" cy="310896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743200"/>
            <a:ext cx="54864" cy="310896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65760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 Lean expertise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7600" y="402336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160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Frameworks, maturity, daily management — visible on every key page.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743200"/>
            <a:ext cx="2788920" cy="310896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743200"/>
            <a:ext cx="54864" cy="310896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58368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 connected ecosystem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583680" y="402336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160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 as one operating system, not 20 disconnected tiles.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235440" y="2743200"/>
            <a:ext cx="2788920" cy="310896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0" y="2743200"/>
            <a:ext cx="54864" cy="310896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2971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50976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Drive better conversions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509760" y="402336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41605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CTAs only — Book Consultation + Visit Product Site.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03  •  AUDIENCE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buyers, four mindsets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new site is designed for decision-makers — not casual visitors.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971800"/>
            <a:ext cx="640080" cy="640080"/>
          </a:xfrm>
          <a:prstGeom prst="ellipse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Operations Director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ROI, downtime, OEE, audit-ready compliance. Buys a system, not a tool.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274320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971800"/>
            <a:ext cx="640080" cy="640080"/>
          </a:xfrm>
          <a:prstGeom prst="ellipse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/ CI Lead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0" y="420624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4343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maturity, daily management, structured CAPA. Recognises SQDCM/PQVC.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74320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2971800"/>
            <a:ext cx="640080" cy="640080"/>
          </a:xfrm>
          <a:prstGeom prst="ellipse">
            <a:avLst/>
          </a:prstGeom>
          <a:solidFill>
            <a:srgbClr val="145994"/>
          </a:solidFill>
          <a:ln w="12700">
            <a:solidFill>
              <a:srgbClr val="1459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CEO / COO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83680" y="420624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343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transformation partner — credible, named, certified.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235440" y="2743200"/>
            <a:ext cx="2788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09760" y="2971800"/>
            <a:ext cx="640080" cy="640080"/>
          </a:xfrm>
          <a:prstGeom prst="ellipse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L&amp;D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50976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L&amp;D / HR Leader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509760" y="4206240"/>
            <a:ext cx="457200" cy="27432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0" y="43434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Leadership programs and ILM Belts to scale Lean culture across plants.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04  •  INFORMATION 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New navigation — six primary nodes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think in problems, not products. Group products under capabilities.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66360" y="2697480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 HOME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40180" y="3520440"/>
            <a:ext cx="9281160" cy="27432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7044" y="3246120"/>
            <a:ext cx="27432" cy="27432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26464" y="3520440"/>
            <a:ext cx="27432" cy="1828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703320"/>
            <a:ext cx="1691640" cy="8686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160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Story · Trust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82696" y="3520440"/>
            <a:ext cx="27432" cy="1828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50592" y="3703320"/>
            <a:ext cx="1691640" cy="8686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Transformation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42032" y="4160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Methodology · Maturity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38928" y="3520440"/>
            <a:ext cx="27432" cy="1828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06824" y="3703320"/>
            <a:ext cx="1691640" cy="8686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98264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Ecosystem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98264" y="4160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themes · Hub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95160" y="3520440"/>
            <a:ext cx="27432" cy="1828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63056" y="3703320"/>
            <a:ext cx="1691640" cy="8686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54496" y="4160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Sector solutions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851392" y="3520440"/>
            <a:ext cx="27432" cy="1828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19288" y="3703320"/>
            <a:ext cx="1691640" cy="8686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0728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10728" y="4160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Consulting · Training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707624" y="3520440"/>
            <a:ext cx="27432" cy="1828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75520" y="3703320"/>
            <a:ext cx="1691640" cy="8686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66960" y="37490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66960" y="4160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Cases · Blog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166360"/>
            <a:ext cx="11247120" cy="91440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2852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UX PRINCIPLE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Users think in problems → which capability solves it → which products support it → visit the product site.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05  •  PRODUCT ECOSYSTEM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20+ products → 4 capability themes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One connected operating system, not a flat catalog.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3657600" cy="155448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907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 visibility · daily management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" y="3611880"/>
            <a:ext cx="4572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Point  ·  Janus  ·  Lean Assessment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01000" y="2743200"/>
            <a:ext cx="3657600" cy="155448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02168" y="2907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SHOPFLOOR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02168" y="32461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Maintenance · planning · 5S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02168" y="3611880"/>
            <a:ext cx="4572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02168" y="3703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TITAN  ·  JDI  ·  T-Card  ·  Saisho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617720"/>
            <a:ext cx="3657600" cy="1554480"/>
          </a:xfrm>
          <a:prstGeom prst="rect">
            <a:avLst/>
          </a:prstGeom>
          <a:solidFill>
            <a:srgbClr val="FF7824"/>
          </a:solidFill>
          <a:ln w="12700">
            <a:solidFill>
              <a:srgbClr val="FF78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782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" y="5120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QMS · EHS · contractor · ERP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" y="5486400"/>
            <a:ext cx="4572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Q-Point  ·  Safety-Point  ·  Maximus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01000" y="4617720"/>
            <a:ext cx="3657600" cy="1554480"/>
          </a:xfrm>
          <a:prstGeom prst="rect">
            <a:avLst/>
          </a:prstGeom>
          <a:solidFill>
            <a:srgbClr val="006CCD"/>
          </a:solidFill>
          <a:ln w="12700">
            <a:solidFill>
              <a:srgbClr val="006C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02168" y="4782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02168" y="51206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culture · accreditation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02168" y="5486400"/>
            <a:ext cx="4572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02168" y="5577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YCA  ·  MentorYou  ·  ILM Green / Black Belt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26280" y="3520440"/>
            <a:ext cx="3108960" cy="1783080"/>
          </a:xfrm>
          <a:prstGeom prst="roundRect">
            <a:avLst>
              <a:gd name="adj" fmla="val 7692"/>
            </a:avLst>
          </a:prstGeom>
          <a:solidFill>
            <a:srgbClr val="003057"/>
          </a:solidFill>
          <a:ln w="25400">
            <a:solidFill>
              <a:srgbClr val="09B1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794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 INDUSTRY  4.0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09160" y="42336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Operating System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806440" y="4709160"/>
            <a:ext cx="548640" cy="2743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products + senior consulting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60520" y="3502152"/>
            <a:ext cx="36576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07992" y="3520440"/>
            <a:ext cx="36576" cy="89154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60520" y="5376672"/>
            <a:ext cx="36576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7992" y="4411980"/>
            <a:ext cx="36576" cy="98298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3502152"/>
            <a:ext cx="36576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16952" y="3520440"/>
            <a:ext cx="36576" cy="89154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5376672"/>
            <a:ext cx="36576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16952" y="4411980"/>
            <a:ext cx="36576" cy="98298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06  •  HOMEPAGE STRUCTURE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narrative, not a product dump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Nine sections that tell the LTS transformation story.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112471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97480"/>
            <a:ext cx="54864" cy="384048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974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23360" y="26974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Two-tone headline · trust signals · two CTAs · dashboard mockup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112471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27248"/>
            <a:ext cx="54864" cy="384048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127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12724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 bar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023360" y="31272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Logos of named enterprise clients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57016"/>
            <a:ext cx="112471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57016"/>
            <a:ext cx="54864" cy="384048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570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35570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methodology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23360" y="35570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SQDCM · PQVC · CAPA · Maturity — visualised as a framework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86784"/>
            <a:ext cx="112471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86784"/>
            <a:ext cx="54864" cy="384048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86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3986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ecosystem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23360" y="39867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 themes, one connected operating system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416552"/>
            <a:ext cx="112471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416552"/>
            <a:ext cx="54864" cy="384048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4165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44165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23360" y="44165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KPI visibility · daily management · CAPA · strategy deployment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846320"/>
            <a:ext cx="112471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846320"/>
            <a:ext cx="54864" cy="384048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8463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88720" y="48463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Industries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023360" y="48463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Pharma · Auto · Med · Electronics · Utilities + case study links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276088"/>
            <a:ext cx="112471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5276088"/>
            <a:ext cx="54864" cy="384048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2760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188720" y="52760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Case studies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023360" y="52760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 stories with named clients and quantified impact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5705856"/>
            <a:ext cx="112471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5705856"/>
            <a:ext cx="54864" cy="384048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705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188720" y="57058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023360" y="570585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Senior practitioners · BSI · ILM accreditation · 10+ yrs delivery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57200" y="6135624"/>
            <a:ext cx="11247120" cy="384048"/>
          </a:xfrm>
          <a:prstGeom prst="rect">
            <a:avLst/>
          </a:prstGeom>
          <a:solidFill>
            <a:srgbClr val="F4F8FB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6135624"/>
            <a:ext cx="54864" cy="384048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613562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188720" y="61356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CTA · Book consultation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023360" y="61356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primary action — closes the page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06  •  KEY PAGE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Lean Transformation page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page that positions LTS as consulting-led — not software-only.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5577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THIS PAGE PROVES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 is consulting-led, framework-led, and enterprise-grade — with software as the means.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44348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Hero · Methodology first. Software second.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Frameworks · SQDCM · PQVC · Hoshin · VSM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5-Stage Maturity Ladder · Aware → Lead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management in practice (06:30 → 17:00)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CTA · Book a Maturity Assessment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743200"/>
            <a:ext cx="5486400" cy="338328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26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FRAMEWORKS WE LEAD WITH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3337560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337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SQDCM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3337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Safety · Quality · Delivery · Cost · Morale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840480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8404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PQVC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55280" y="38404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Productivity · Quality · Velocity · Cost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4343400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343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Hoshin Kanri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343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X-Matrix strategy deployment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4846320"/>
            <a:ext cx="1280160" cy="384048"/>
          </a:xfrm>
          <a:prstGeom prst="roundRect">
            <a:avLst>
              <a:gd name="adj" fmla="val 9524"/>
            </a:avLst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4846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VSM + PCE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55280" y="48463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 Stream Mapping · Process Cycle Efficiency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07  •  UX PRINCIPLES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Six rules for every page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these tests to every section, copy block, and component.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7033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169164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077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32588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Company-first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" y="345643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 the partner before any one product.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2743200"/>
            <a:ext cx="37033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2743200"/>
            <a:ext cx="54864" cy="169164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3128" y="29077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2064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 is more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53128" y="345643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Whitespace = credibility. No mega-menus.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2743200"/>
            <a:ext cx="37033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2743200"/>
            <a:ext cx="54864" cy="169164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47888" y="29077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1540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Storytelling &gt; features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47888" y="345643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section answers a buyer question.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37033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572000"/>
            <a:ext cx="54864" cy="169164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47365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systems &gt; text walls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8368" y="528523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Diagrams, ladders, frameworks beat paragraphs.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51960" y="4572000"/>
            <a:ext cx="37033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4572000"/>
            <a:ext cx="54864" cy="169164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53128" y="47365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12064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pathways, no more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453128" y="528523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 · Explore · Talk to a consultant.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46720" y="4572000"/>
            <a:ext cx="37033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4572000"/>
            <a:ext cx="54864" cy="169164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473659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91540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 everywhere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47888" y="5285232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BSI · ILM · clients on every page, not in the footer.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</a:t>
            </a:r>
            <a:pPr indent="0" marL="0">
              <a:buNone/>
            </a:pPr>
            <a:r>
              <a:rPr lang="en-US" sz="1400" b="1" dirty="0">
                <a:solidFill>
                  <a:srgbClr val="FF782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</a:t>
            </a:r>
            <a:pPr indent="0" marL="0">
              <a:buNone/>
            </a:pPr>
            <a:r>
              <a:rPr lang="en-US" sz="1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75720" y="1828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75720" y="182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13716"/>
          </a:xfrm>
          <a:prstGeom prst="rect">
            <a:avLst/>
          </a:prstGeom>
          <a:solidFill>
            <a:srgbClr val="E7E6E6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90C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777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08  •  UI DIRECTION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Brand-aligned enterprise aesthetic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640080" cy="36576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Sans typography. LTS Data Point palette. Whitespace = credibility.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PALETTE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1874520" cy="914400"/>
          </a:xfrm>
          <a:prstGeom prst="rect">
            <a:avLst/>
          </a:prstGeom>
          <a:solidFill>
            <a:srgbClr val="145994"/>
          </a:solidFill>
          <a:ln w="12700">
            <a:solidFill>
              <a:srgbClr val="1459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Blue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#145994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3035808"/>
            <a:ext cx="1874520" cy="91440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Navy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#003057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3035808"/>
            <a:ext cx="1874520" cy="914400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Bright Blue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#1A90CE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035808"/>
            <a:ext cx="1874520" cy="914400"/>
          </a:xfrm>
          <a:prstGeom prst="rect">
            <a:avLst/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Teal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#09B1A6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3035808"/>
            <a:ext cx="1874520" cy="914400"/>
          </a:xfrm>
          <a:prstGeom prst="rect">
            <a:avLst/>
          </a:prstGeom>
          <a:solidFill>
            <a:srgbClr val="FF7824"/>
          </a:solidFill>
          <a:ln w="12700">
            <a:solidFill>
              <a:srgbClr val="FF78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Vivid Orange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7532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#FF7824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58400" y="3035808"/>
            <a:ext cx="1874520" cy="9144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95560" y="3108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Charcoal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9556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#333333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TYPOGRAPHY  ·  OPEN SANS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5079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Aa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1783080" y="45262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 56pt — ExtraBold headline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783080" y="4846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Section 28pt — Bold subheading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53492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Body 16pt — Regular for description copy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5669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EYEBROW · BOLD UPPER · +1.5 SPACING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VOICE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434840"/>
            <a:ext cx="5486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4526280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Inspired by Siemens · McKinsey · BCG enterprise voice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navy + restrained whitespace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 industrial photography (no abstract tech stock)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previews above the fold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Vivid orange / amber reserved for CTAs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A90CE"/>
          </a:solidFill>
          <a:ln w="12700">
            <a:solidFill>
              <a:srgbClr val="1A90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772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OUTCOME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high-trust enterprise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i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Lean transformation platform.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166360" y="3154680"/>
            <a:ext cx="1828800" cy="4572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361188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09B1A6"/>
          </a:solidFill>
          <a:ln w="12700">
            <a:solidFill>
              <a:srgbClr val="09B1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CTA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Book a Consultation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45262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Decision-makers · enterprise buyers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4800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05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Hero, page footers, sticky bar.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61188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145994"/>
          </a:solidFill>
          <a:ln w="12700">
            <a:solidFill>
              <a:srgbClr val="1459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SECONDARY CTA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Visit Product Site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45262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Hands-on users · engineers · supervisors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4800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ecosystem cards, theme pages.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LTS becomes the brand. Products support it. Consultation leads grow.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9B1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www.leandatapoint.com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32720" y="6565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8F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Lean Transition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LTS Website Revamp — Enterprise UX Strategy &amp; Transformation Blueprint</dc:title>
  <dc:subject>PptxGenJS Presentation</dc:subject>
  <dc:creator>LTS UX Strategy</dc:creator>
  <cp:lastModifiedBy>LTS UX Strategy</cp:lastModifiedBy>
  <cp:revision>1</cp:revision>
  <dcterms:created xsi:type="dcterms:W3CDTF">2026-05-08T12:36:46Z</dcterms:created>
  <dcterms:modified xsi:type="dcterms:W3CDTF">2026-05-08T12:36:46Z</dcterms:modified>
</cp:coreProperties>
</file>